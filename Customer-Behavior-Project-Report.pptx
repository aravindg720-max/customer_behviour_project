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Tomorrow SemiBold"/>
      <p:regular r:id="rId17"/>
    </p:embeddedFont>
    <p:embeddedFont>
      <p:font typeface="Tomorrow"/>
      <p:regular r:id="rId18"/>
    </p:embeddedFont>
    <p:embeddedFont>
      <p:font typeface="Tomorrow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Customer Behavior Project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 end-to-end analysis of customer shopping behavior 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data cleaning,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SQL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business analysis,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BI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for interactive dashboard visualization.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1740"/>
            <a:ext cx="43434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824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company seeks to understand consumer shopping behavior across demographics, product categories, sales channels, and seasonal patterns to improve satisfaction and business performance.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4013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23245"/>
            <a:ext cx="2622724" cy="1905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732187"/>
            <a:ext cx="25971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Analyze purchasing patterns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60601" y="24013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623245"/>
            <a:ext cx="2622724" cy="1905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732187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Identify top-performing categories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25083" y="240134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2623245"/>
            <a:ext cx="2622724" cy="1905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2" name="Text 10"/>
          <p:cNvSpPr/>
          <p:nvPr/>
        </p:nvSpPr>
        <p:spPr>
          <a:xfrm>
            <a:off x="6025083" y="2732187"/>
            <a:ext cx="262272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Study discount impact on sales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6119" y="34231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645024"/>
            <a:ext cx="4004965" cy="1905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3753966"/>
            <a:ext cx="2855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Compare online vs. offline sales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42842" y="342312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3645024"/>
            <a:ext cx="4004965" cy="1905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8" name="Text 16"/>
          <p:cNvSpPr/>
          <p:nvPr/>
        </p:nvSpPr>
        <p:spPr>
          <a:xfrm>
            <a:off x="4642842" y="3753966"/>
            <a:ext cx="36101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Build an interactive Power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94109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&amp; Tools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40" y="1412304"/>
            <a:ext cx="5201469" cy="2947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1884" y="1255737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1884" y="1603251"/>
            <a:ext cx="2646164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3,900 transaction records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covering customer demographics, purchase amounts, product categories, discounts, payment methods, sales channels, and ratings.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21884" y="2817837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1884" y="3165351"/>
            <a:ext cx="2646164" cy="143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</a:t>
            </a:r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(Pandas, NumPy) — Data cleaning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SQL</a:t>
            </a:r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Business query analysis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BI</a:t>
            </a:r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Dashboard visualization</a:t>
            </a:r>
            <a:endParaRPr lang="en-US" sz="105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Jupyter Notebook</a:t>
            </a:r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Development environment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2454"/>
            <a:ext cx="60121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Cleaning &amp; Preprocessing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68959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1D1D1B"/>
          </a:solidFill>
          <a:ln w="19050">
            <a:solidFill>
              <a:srgbClr val="5555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668959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Structure &amp; Stats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136279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mean purchase $59.76, avg rating 3.79, age range 18–70.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68959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1D1D1B"/>
          </a:solidFill>
          <a:ln w="19050">
            <a:solidFill>
              <a:srgbClr val="5555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3792" y="1668959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9" name="Text 7"/>
          <p:cNvSpPr/>
          <p:nvPr/>
        </p:nvSpPr>
        <p:spPr>
          <a:xfrm>
            <a:off x="4860801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60801" y="2136279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Only 37 nulls in Review Rating — replaced with median value.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892475"/>
            <a:ext cx="4004965" cy="1308571"/>
          </a:xfrm>
          <a:prstGeom prst="roundRect">
            <a:avLst>
              <a:gd name="adj" fmla="val 6988"/>
            </a:avLst>
          </a:prstGeom>
          <a:solidFill>
            <a:srgbClr val="1D1D1B"/>
          </a:solidFill>
          <a:ln w="19050">
            <a:solidFill>
              <a:srgbClr val="5555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069" y="2892475"/>
            <a:ext cx="76200" cy="1308571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3" name="Text 11"/>
          <p:cNvSpPr/>
          <p:nvPr/>
        </p:nvSpPr>
        <p:spPr>
          <a:xfrm>
            <a:off x="714077" y="3053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4077" y="3359795"/>
            <a:ext cx="36261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Column names lowercased with underscores; redundant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removed (identical to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892475"/>
            <a:ext cx="4005039" cy="1308571"/>
          </a:xfrm>
          <a:prstGeom prst="roundRect">
            <a:avLst>
              <a:gd name="adj" fmla="val 6988"/>
            </a:avLst>
          </a:prstGeom>
          <a:solidFill>
            <a:srgbClr val="1D1D1B"/>
          </a:solidFill>
          <a:ln w="19050">
            <a:solidFill>
              <a:srgbClr val="5555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3792" y="2892475"/>
            <a:ext cx="76200" cy="1308571"/>
          </a:xfrm>
          <a:prstGeom prst="roundRect">
            <a:avLst>
              <a:gd name="adj" fmla="val 27907"/>
            </a:avLst>
          </a:prstGeom>
          <a:solidFill>
            <a:srgbClr val="E1E1DF"/>
          </a:solidFill>
          <a:ln/>
        </p:spPr>
      </p:sp>
      <p:sp>
        <p:nvSpPr>
          <p:cNvPr id="17" name="Text 15"/>
          <p:cNvSpPr/>
          <p:nvPr/>
        </p:nvSpPr>
        <p:spPr>
          <a:xfrm>
            <a:off x="4860801" y="3053283"/>
            <a:ext cx="18157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60801" y="3359795"/>
            <a:ext cx="362627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via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highlight>
                  <a:srgbClr val="2A2A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pd.qcut()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(Young Adults, Adults, Middle-aged, Seniors) and converted purchase frequency to day-based values.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3073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SQL Analysis: Key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Young Adults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generated the highest revenue ($62,143)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Clothing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was the top category by purchase amount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Only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1,053 subscribers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vs. 2,847 non-subscribers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3,116 loyal customers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(5+ previous purchases)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Express shipping averaged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$60.48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vs. Standard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$58.46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626"/>
            <a:ext cx="518122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Top Products &amp; Categories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82973"/>
            <a:ext cx="2600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Highest-Rated Products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663898"/>
            <a:ext cx="3902943" cy="2448223"/>
          </a:xfrm>
          <a:prstGeom prst="roundRect">
            <a:avLst>
              <a:gd name="adj" fmla="val 86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668661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2714" y="175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91767" y="175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075111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1649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Gloves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21649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0881" y="2481560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2714" y="257137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Sandals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1767" y="257137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0881" y="2888010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2714" y="29778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1767" y="29778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0881" y="3294459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2714" y="33842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1767" y="33842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700909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379072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Skirt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91767" y="379072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3.79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701" y="1282973"/>
            <a:ext cx="28084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49701" y="1663898"/>
            <a:ext cx="3902943" cy="2448223"/>
          </a:xfrm>
          <a:prstGeom prst="roundRect">
            <a:avLst>
              <a:gd name="adj" fmla="val 86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463" y="1668661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6296" y="175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Product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45350" y="175847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463" y="2075111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6296" y="21649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5350" y="21649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50.00%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463" y="2481560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96296" y="257137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Sneakers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5350" y="257137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49.66%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463" y="2888010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96296" y="29778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45350" y="297782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49.07%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463" y="3294459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6296" y="33842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Sweater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45350" y="33842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48.17%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463" y="3700909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6296" y="379072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45350" y="379072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47.37%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6119" y="443106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Clothing dominated top purchases across all categories — Blouse, Pants, and Shirt led with 169–171 orders each.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58366"/>
            <a:ext cx="41433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84796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3.9K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46447" y="22297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46053" y="1584796"/>
            <a:ext cx="2272829" cy="31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$59.76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3196456" y="20737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721048" y="280555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3.75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1971452" y="34505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6119" y="38314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Interactive filters for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Gender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Age 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Subscription Status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enable dynamic, segment-level analysis with cross-visual filtering.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3001"/>
            <a:ext cx="50475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Dashboard Visualizations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9506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3471"/>
            <a:ext cx="22538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Subscription Distribution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Donut chart showing subscribed vs. non-subscribed customer proportions.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999506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3471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Purchase by Category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Bar charts comparing total spend across Clothing, Accessories, Footwear, and Outerwear.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999506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3471"/>
            <a:ext cx="20376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98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Horizontal bar chart revealing Young Adults as the top revenue-contributing demographic.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Key Insights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177355"/>
            <a:ext cx="204742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the Data Reveals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443832"/>
            <a:ext cx="3759622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Clothing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led all categories in total purchase amount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Young Adults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outpaced all age groups in revenue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73% of customers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are non-subscribers — a major growth opportunity</a:t>
            </a:r>
            <a:endParaRPr lang="en-US" sz="85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Accessories and Footwear showed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moderate but consistent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performance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77875"/>
            <a:ext cx="4893320" cy="73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DEDE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Recommendations &amp; Conclusion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3839840" y="1257374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3C3C3A"/>
          </a:solidFill>
          <a:ln/>
        </p:spPr>
      </p:sp>
      <p:sp>
        <p:nvSpPr>
          <p:cNvPr id="5" name="Text 2"/>
          <p:cNvSpPr/>
          <p:nvPr/>
        </p:nvSpPr>
        <p:spPr>
          <a:xfrm>
            <a:off x="3957191" y="137472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Prioritize Clothing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957191" y="1616422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Focus marketing and inventory on the highest-revenue category.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839840" y="2002631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3C3C3A"/>
          </a:solidFill>
          <a:ln/>
        </p:spPr>
      </p:sp>
      <p:sp>
        <p:nvSpPr>
          <p:cNvPr id="8" name="Text 5"/>
          <p:cNvSpPr/>
          <p:nvPr/>
        </p:nvSpPr>
        <p:spPr>
          <a:xfrm>
            <a:off x="3957191" y="2119982"/>
            <a:ext cx="14797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Target Young Adults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57191" y="2361679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Launch personalized campaigns and offers for this top-spending segment.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39840" y="2747888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3C3C3A"/>
          </a:solidFill>
          <a:ln/>
        </p:spPr>
      </p:sp>
      <p:sp>
        <p:nvSpPr>
          <p:cNvPr id="11" name="Text 8"/>
          <p:cNvSpPr/>
          <p:nvPr/>
        </p:nvSpPr>
        <p:spPr>
          <a:xfrm>
            <a:off x="3957191" y="2865239"/>
            <a:ext cx="1505173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57191" y="3106936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Introduce loyalty rewards and membership benefits to convert non-subscribers.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39840" y="3493145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3C3C3A"/>
          </a:solidFill>
          <a:ln/>
        </p:spPr>
      </p:sp>
      <p:sp>
        <p:nvSpPr>
          <p:cNvPr id="14" name="Text 11"/>
          <p:cNvSpPr/>
          <p:nvPr/>
        </p:nvSpPr>
        <p:spPr>
          <a:xfrm>
            <a:off x="3957191" y="3610496"/>
            <a:ext cx="187136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9C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Improve Low Performers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57191" y="3852193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Use discounts and promotions to lift Accessories and Footwear sales.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39840" y="4250531"/>
            <a:ext cx="4893320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project successfully combined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Python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SQL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and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Power BI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to uncover actionable trends in demographics, categories, and purchasing patterns — enabling data-driven business decisions.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2026-05-24T08:12:33Z</dcterms:created>
  <dcterms:modified xsi:type="dcterms:W3CDTF">2026-05-24T08:12:33Z</dcterms:modified>
</cp:coreProperties>
</file>